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62" r:id="rId3"/>
    <p:sldId id="707" r:id="rId4"/>
    <p:sldId id="257" r:id="rId5"/>
    <p:sldId id="903" r:id="rId6"/>
    <p:sldId id="904" r:id="rId7"/>
    <p:sldId id="902" r:id="rId8"/>
    <p:sldId id="258" r:id="rId9"/>
    <p:sldId id="259" r:id="rId10"/>
    <p:sldId id="905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027E28-8C06-4C40-BD6D-BE2855C56A99}">
          <p14:sldIdLst>
            <p14:sldId id="262"/>
            <p14:sldId id="707"/>
            <p14:sldId id="257"/>
            <p14:sldId id="903"/>
            <p14:sldId id="904"/>
            <p14:sldId id="902"/>
            <p14:sldId id="258"/>
            <p14:sldId id="259"/>
            <p14:sldId id="905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25" autoAdjust="0"/>
    <p:restoredTop sz="94660"/>
  </p:normalViewPr>
  <p:slideViewPr>
    <p:cSldViewPr snapToGrid="0">
      <p:cViewPr>
        <p:scale>
          <a:sx n="62" d="100"/>
          <a:sy n="62" d="100"/>
        </p:scale>
        <p:origin x="224" y="220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78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13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13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13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13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13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13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95611" y="2708905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August 12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7649334"/>
              </p:ext>
            </p:extLst>
          </p:nvPr>
        </p:nvGraphicFramePr>
        <p:xfrm>
          <a:off x="8153400" y="4679043"/>
          <a:ext cx="3825240" cy="1398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524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3983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rade Gothic Next Heavy" panose="020F0502020204030204" pitchFamily="34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rade Gothic Next Heavy" panose="020F0502020204030204" pitchFamily="34" charset="0"/>
                          <a:ea typeface="Cambria"/>
                          <a:cs typeface="Times New Roman" panose="02020603050405020304" pitchFamily="18" charset="0"/>
                        </a:rPr>
                        <a:t>N. Sai Pragathi – 2420030672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rade Gothic Next Heavy" panose="020F0502020204030204" pitchFamily="34" charset="0"/>
                          <a:ea typeface="Cambria"/>
                          <a:cs typeface="Times New Roman" panose="02020603050405020304" pitchFamily="18" charset="0"/>
                        </a:rPr>
                        <a:t>S. Indu – 2420030710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rade Gothic Next Heavy" panose="020F0502020204030204" pitchFamily="34" charset="0"/>
                          <a:ea typeface="Cambria"/>
                          <a:cs typeface="Times New Roman" panose="02020603050405020304" pitchFamily="18" charset="0"/>
                        </a:rPr>
                        <a:t>A.V.N.S Anupama – 2420030712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rade Gothic Next Heavy" panose="020F0502020204030204" pitchFamily="34" charset="0"/>
                          <a:ea typeface="Cambria"/>
                          <a:cs typeface="Times New Roman" panose="02020603050405020304" pitchFamily="18" charset="0"/>
                        </a:rPr>
                        <a:t>T. Aashritha Reddy – 2420030719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346320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1631136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>
                        <a:latin typeface="Trade Gothic Next Heavy" panose="020B09030403030200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rade Gothic Next Heavy" panose="020B0903040303020004" pitchFamily="34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rade Gothic Next Heavy" panose="020B0903040303020004" pitchFamily="34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rade Gothic Next Heavy" panose="020B0903040303020004" pitchFamily="34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rade Gothic Next Heavy" panose="020B0903040303020004" pitchFamily="34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rade Gothic Next Heavy" panose="020B0903040303020004" pitchFamily="34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rade Gothic Next Heavy" panose="020B0903040303020004" pitchFamily="34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rade Gothic Next Heavy" panose="020B0903040303020004" pitchFamily="34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rade Gothic Next Heavy" panose="020B0903040303020004" pitchFamily="34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rade Gothic Next Heavy" panose="020B0903040303020004" pitchFamily="34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rade Gothic Next Heavy" panose="020B0903040303020004" pitchFamily="34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13 August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RTOS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>
            <a:spLocks/>
          </p:cNvSpPr>
          <p:nvPr/>
        </p:nvSpPr>
        <p:spPr>
          <a:xfrm>
            <a:off x="738185" y="791885"/>
            <a:ext cx="10915650" cy="140558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136525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>
            <a:spLocks/>
          </p:cNvSpPr>
          <p:nvPr/>
        </p:nvSpPr>
        <p:spPr>
          <a:xfrm>
            <a:off x="738185" y="845286"/>
            <a:ext cx="1071562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REAL-TIME PRIORITY SCHEDULING FOR </a:t>
            </a:r>
            <a:b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WILDFIRE DETECTION &amp; RESPONSE FRAMWWORK 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3212" y="2269580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 August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RTOS Project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2902488" y="17510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9380" y="115414"/>
            <a:ext cx="1901110" cy="62255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1898904" y="1369405"/>
            <a:ext cx="8540496" cy="4438977"/>
            <a:chOff x="1929643" y="1656655"/>
            <a:chExt cx="6784432" cy="4438977"/>
          </a:xfrm>
          <a:solidFill>
            <a:srgbClr val="002060"/>
          </a:solidFill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grpFill/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grpFill/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grpFill/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grpFill/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grpFill/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grpFill/>
            <a:ln w="19050" cap="flat" cmpd="sng" algn="ctr">
              <a:solidFill>
                <a:schemeClr val="accent4"/>
              </a:solidFill>
              <a:prstDash val="solid"/>
              <a:miter lim="800000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grpFill/>
            <a:ln w="19050" cap="flat" cmpd="sng" algn="ctr">
              <a:solidFill>
                <a:schemeClr val="accent4"/>
              </a:solidFill>
              <a:prstDash val="solid"/>
              <a:miter lim="800000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grpFill/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891313" y="52795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900" name="Content 900"/>
          <p:cNvSpPr txBox="1"/>
          <p:nvPr/>
        </p:nvSpPr>
        <p:spPr>
          <a:xfrm>
            <a:off x="738187" y="1395136"/>
            <a:ext cx="10715625" cy="47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1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Wildfires spread rapidly and unpredictably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even a small delay in detecting or responding to a fire can lead to serious loss of life and property.</a:t>
            </a:r>
          </a:p>
          <a:p>
            <a:pPr marL="342900" indent="-342900" algn="l">
              <a:lnSpc>
                <a:spcPct val="11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wildfire monitoring systems rely on periodic sensor polling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with no formal guarantee on how fast a critical fire alert is actually processed.</a:t>
            </a:r>
          </a:p>
          <a:p>
            <a:pPr marL="342900" indent="-342900" algn="l">
              <a:lnSpc>
                <a:spcPct val="11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real sensor load, a high-priority fire alert can be silently delayed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behind routine, lower-priority sensor-check tasks.</a:t>
            </a:r>
          </a:p>
          <a:p>
            <a:pPr marL="342900" indent="-342900" algn="l">
              <a:lnSpc>
                <a:spcPct val="11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example: 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forest sensor checks temperature every few seconds. If a fire starts, that alert must be handled immediately — not stuck waiting behind routine checks.</a:t>
            </a:r>
          </a:p>
          <a:p>
            <a:pPr marL="342900" indent="-342900" algn="l">
              <a:lnSpc>
                <a:spcPct val="11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question: 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can a monitoring system guarantee that urgent fire alerts are handled within a fixed time limit, even while the system is busy with routine tasks?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900" name="Content 900"/>
          <p:cNvSpPr txBox="1"/>
          <p:nvPr/>
        </p:nvSpPr>
        <p:spPr>
          <a:xfrm>
            <a:off x="738187" y="1450000"/>
            <a:ext cx="10715625" cy="47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1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BLAZE-RT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real-time task-scheduling framework that models routine sensor checks as periodic low-priority tasks and fire-detection events as high-priority, deadline-bound tasks.</a:t>
            </a:r>
          </a:p>
          <a:p>
            <a:pPr marL="342900" indent="-342900" algn="l">
              <a:lnSpc>
                <a:spcPct val="11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Rate-Monotonic Scheduling (RMS)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periodic sensor tasks and </a:t>
            </a: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Earliest-Deadline-First (EDF)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scheduling for urgent fire alerts.</a:t>
            </a:r>
          </a:p>
          <a:p>
            <a:pPr marL="342900" indent="-342900" algn="l">
              <a:lnSpc>
                <a:spcPct val="11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and resolve priority inversion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through priority inheritance, so a low-priority task holding a shared resource never blocks a high-priority fire task indefinitely.</a:t>
            </a:r>
          </a:p>
          <a:p>
            <a:pPr marL="342900" indent="-342900" algn="l">
              <a:lnSpc>
                <a:spcPct val="11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Simulate realistic wildfire spread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a cellular-automaton fire-spread grid, generating reproducible test conditions for the scheduler.</a:t>
            </a:r>
          </a:p>
          <a:p>
            <a:pPr marL="342900" indent="-342900" algn="l">
              <a:lnSpc>
                <a:spcPct val="11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live visual dashboard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a deadline-miss/latency logger to observe task execution and measure scheduling performance.</a:t>
            </a:r>
          </a:p>
          <a:p>
            <a:pPr marL="342900" indent="-342900" algn="l">
              <a:lnSpc>
                <a:spcPct val="11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BLAZE-RT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against a naive First-Come-First-Served baseline using deadline-miss rate, response latency, and system utilization.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738187" y="419297"/>
            <a:ext cx="10715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System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229F6B2-D1A8-B731-7CEB-D305E6F0CEC2}"/>
              </a:ext>
            </a:extLst>
          </p:cNvPr>
          <p:cNvSpPr/>
          <p:nvPr/>
        </p:nvSpPr>
        <p:spPr>
          <a:xfrm>
            <a:off x="7827264" y="5852160"/>
            <a:ext cx="1115568" cy="547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CAA444-3A63-3CD4-DCAD-9625CE89D0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96668" y="1065628"/>
            <a:ext cx="7598664" cy="5511261"/>
          </a:xfrm>
          <a:prstGeom prst="rect">
            <a:avLst/>
          </a:prstGeom>
          <a:ln>
            <a:solidFill>
              <a:schemeClr val="bg1"/>
            </a:solidFill>
          </a:ln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3626913"/>
              </p:ext>
            </p:extLst>
          </p:nvPr>
        </p:nvGraphicFramePr>
        <p:xfrm>
          <a:off x="274646" y="1265189"/>
          <a:ext cx="11642705" cy="4485717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Authors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Title of the Paper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Methodology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Inferences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Limitation/Future work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u="none" kern="1200" dirty="0">
                          <a:solidFill>
                            <a:schemeClr val="dk1"/>
                          </a:solidFill>
                          <a:effectLst/>
                        </a:rPr>
                        <a:t>Sha, Rajkumar &amp; Lehoczky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u="none" kern="1200" dirty="0">
                          <a:solidFill>
                            <a:schemeClr val="tx1"/>
                          </a:solidFill>
                          <a:effectLst/>
                        </a:rPr>
                        <a:t>Priority Inheritance Protocols: An Approach to Real-Time Synchronization, IEEE Trans. Computers, 1990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u="none" kern="1200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Basic Priority Inheritance Protocol and Priority Ceiling Protocol for resource sharing among fixed-priority tasks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u="none" kern="1200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Solves uncontrolled priority inversion; Priority Ceiling Protocol bounds blocking time to one lower-priority critical section and prevents deadlock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u="none" kern="1200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Analysis assumes single-processor, fixed-priority scheduling; does not address multiprocessor or mixed RMS/EDF task sets, which BLAZE-RT targets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u="none" kern="1200" dirty="0">
                          <a:solidFill>
                            <a:schemeClr val="dk1"/>
                          </a:solidFill>
                          <a:effectLst/>
                        </a:rPr>
                        <a:t>Kumar &amp; Gupta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u="none" kern="1200" dirty="0">
                          <a:solidFill>
                            <a:schemeClr val="tx1"/>
                          </a:solidFill>
                          <a:effectLst/>
                        </a:rPr>
                        <a:t>An Adaptive Emergency-First Intelligent Scheduling Algorithm for Hybrid Hard/Soft Real-Time Embedded IoT Systems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u="none" kern="1200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Combined periodic and event-driven task scheduling; emergency events (e.g. fire alerts) treated as highest-priority one-time tasks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u="none" kern="1200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Shows event-driven emergency tasks need dedicated highest-priority handling distinct from periodic sensor tasks in IoT environments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u="none" kern="1200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General IoT framework not validated on a physical sensor-hardware pipeline or a simulated hazard-spread model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375616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1" u="none" kern="1200" dirty="0">
                          <a:solidFill>
                            <a:schemeClr val="dk1"/>
                          </a:solidFill>
                          <a:effectLst/>
                        </a:rPr>
                        <a:t>Recent IoT/ML Studies (2023-24)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u="none" kern="1200" dirty="0">
                          <a:solidFill>
                            <a:schemeClr val="tx1"/>
                          </a:solidFill>
                          <a:effectLst/>
                        </a:rPr>
                        <a:t>Forest Fire Detection and Temperature Monitoring Alert using IoT and Machine Learning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u="none" kern="1200" dirty="0">
                          <a:solidFill>
                            <a:schemeClr val="dk1"/>
                          </a:solidFill>
                          <a:effectLst/>
                        </a:rPr>
                        <a:t>Sensor network (temperature, flame, smoke) with ML-based classification and GSM/GPRS alerting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u="none" kern="1200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Achieves high detection accuracy, but focuses on whether a fire is detected, not on how fast the alert is guaranteed to be handled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u="none" kern="1200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No formal real-time scheduling or deadline guarantee once a fire event is detected — the exact gap BLAZE-RT addresses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4" y="439247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9A8C-9B92-4D48-A6C8-6870D9F00B9F}" type="datetime3">
              <a:rPr lang="en-US" smtClean="0"/>
              <a:t>13 August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RTOS Project Review-1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738187" y="482232"/>
            <a:ext cx="10715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900" name="Content 900"/>
          <p:cNvSpPr txBox="1"/>
          <p:nvPr/>
        </p:nvSpPr>
        <p:spPr>
          <a:xfrm>
            <a:off x="738187" y="1450000"/>
            <a:ext cx="10715625" cy="47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1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wildfire/IoT monitoring literature focuses on detection accuracy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(sensor + ML-based fire classification), not on guaranteeing how fast a confirmed alert is handled.</a:t>
            </a:r>
          </a:p>
          <a:p>
            <a:pPr marL="342900" indent="-342900" algn="l">
              <a:lnSpc>
                <a:spcPct val="11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Periodic-polling architectures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common in environmental monitoring carry no formal real-time scheduling guarantee (RMS/EDF) for dispatching urgent alerts.</a:t>
            </a:r>
          </a:p>
          <a:p>
            <a:pPr marL="342900" indent="-342900" algn="l">
              <a:lnSpc>
                <a:spcPct val="11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inversion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a low-priority task blocking a high-priority alert — is rarely modeled or resolved in existing wildfire-response systems.</a:t>
            </a:r>
          </a:p>
          <a:p>
            <a:pPr marL="342900" indent="-342900" algn="l">
              <a:lnSpc>
                <a:spcPct val="11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 systems combine deadline-aware scheduling with a realistic, reproducible fire-spread simulation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testing before physical deployment.</a:t>
            </a:r>
          </a:p>
          <a:p>
            <a:pPr marL="342900" indent="-342900" algn="l">
              <a:lnSpc>
                <a:spcPct val="11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gap: 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a lightweight, deadline-guaranteed scheduling framework for wildfire alert response, validated on both simulated and physical sensor data.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738187" y="482232"/>
            <a:ext cx="10715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900" name="Content 900"/>
          <p:cNvSpPr txBox="1"/>
          <p:nvPr/>
        </p:nvSpPr>
        <p:spPr>
          <a:xfrm>
            <a:off x="738187" y="1450000"/>
            <a:ext cx="10715625" cy="47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1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deadline-aware scheduling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combines RMS for periodic sensor tasks with EDF for urgent fire alerts, instead of a single fixed-priority scheme.</a:t>
            </a:r>
          </a:p>
          <a:p>
            <a:pPr marL="342900" indent="-342900" algn="l">
              <a:lnSpc>
                <a:spcPct val="11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Explicit priority inheritance mechanism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resolve priority inversion between low-priority sensor tasks and high-priority fire tasks.</a:t>
            </a:r>
          </a:p>
          <a:p>
            <a:pPr marL="342900" indent="-342900" algn="l">
              <a:lnSpc>
                <a:spcPct val="11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Cellular-automaton fire-spread simulation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integrated directly with the scheduler, enabling realistic, reproducible load testing without waiting for a real wildfire.</a:t>
            </a:r>
          </a:p>
          <a:p>
            <a:pPr marL="342900" indent="-342900" algn="l">
              <a:lnSpc>
                <a:spcPct val="11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pipeline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bridging physical hardware (Arduino flame/DHT11 sensors) with software scheduling logic and a live visual dashboard for real-time observability.</a:t>
            </a:r>
          </a:p>
          <a:p>
            <a:pPr marL="342900" indent="-342900" algn="l">
              <a:lnSpc>
                <a:spcPct val="11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Low-cost, edge-deployable design</a:t>
            </a:r>
            <a:r>
              <a:rPr lang="en-US" sz="1800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extensible beyond wildfire detection to other safety-critical, deadline-sensitive monitoring domains.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EF3A2F-9BE3-47D6-2B3D-3BB52D51BB7B}"/>
              </a:ext>
            </a:extLst>
          </p:cNvPr>
          <p:cNvSpPr/>
          <p:nvPr/>
        </p:nvSpPr>
        <p:spPr>
          <a:xfrm>
            <a:off x="705608" y="360685"/>
            <a:ext cx="10826496" cy="74445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SENSOR LOAD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9B3DA49-7F8E-40E9-B4DA-6CB0F0BF20B4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118856" y="1105138"/>
            <a:ext cx="0" cy="684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FEEA5A-DF7F-D9A7-702C-FD48D78B42CD}"/>
              </a:ext>
            </a:extLst>
          </p:cNvPr>
          <p:cNvCxnSpPr>
            <a:cxnSpLocks/>
          </p:cNvCxnSpPr>
          <p:nvPr/>
        </p:nvCxnSpPr>
        <p:spPr>
          <a:xfrm flipV="1">
            <a:off x="1648962" y="1780795"/>
            <a:ext cx="8887968" cy="91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1A46D5-33D2-DF5F-39E0-A8C54747ADEC}"/>
              </a:ext>
            </a:extLst>
          </p:cNvPr>
          <p:cNvCxnSpPr/>
          <p:nvPr/>
        </p:nvCxnSpPr>
        <p:spPr>
          <a:xfrm>
            <a:off x="1648962" y="1780795"/>
            <a:ext cx="0" cy="704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C666F9-5F5F-D2BE-1C6C-2E739B4F6A98}"/>
              </a:ext>
            </a:extLst>
          </p:cNvPr>
          <p:cNvCxnSpPr>
            <a:cxnSpLocks/>
          </p:cNvCxnSpPr>
          <p:nvPr/>
        </p:nvCxnSpPr>
        <p:spPr>
          <a:xfrm flipH="1">
            <a:off x="10536929" y="1789939"/>
            <a:ext cx="1" cy="281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8492083-2BB9-ED3E-2A5D-42F75EC5B55C}"/>
              </a:ext>
            </a:extLst>
          </p:cNvPr>
          <p:cNvSpPr/>
          <p:nvPr/>
        </p:nvSpPr>
        <p:spPr>
          <a:xfrm>
            <a:off x="383284" y="2465596"/>
            <a:ext cx="2544301" cy="537213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FCFS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7F678C-F42B-1D2E-9142-98C2E42B07A0}"/>
              </a:ext>
            </a:extLst>
          </p:cNvPr>
          <p:cNvSpPr/>
          <p:nvPr/>
        </p:nvSpPr>
        <p:spPr>
          <a:xfrm>
            <a:off x="9078079" y="2095765"/>
            <a:ext cx="2788915" cy="42976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BLAZE-RT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21F1DF-5CCB-1D1A-12B3-7C88ED3FE8EB}"/>
              </a:ext>
            </a:extLst>
          </p:cNvPr>
          <p:cNvCxnSpPr>
            <a:cxnSpLocks/>
          </p:cNvCxnSpPr>
          <p:nvPr/>
        </p:nvCxnSpPr>
        <p:spPr>
          <a:xfrm>
            <a:off x="10536929" y="2562607"/>
            <a:ext cx="0" cy="372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FB1710D-7AB2-DCEA-40CB-F2548D899422}"/>
              </a:ext>
            </a:extLst>
          </p:cNvPr>
          <p:cNvSpPr/>
          <p:nvPr/>
        </p:nvSpPr>
        <p:spPr>
          <a:xfrm>
            <a:off x="9271251" y="2975227"/>
            <a:ext cx="2531355" cy="42976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RMS  + EDF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F085165-2FFA-8C50-5419-AB3ACD1D75CA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10536929" y="3404995"/>
            <a:ext cx="0" cy="374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8AB6CAF3-4140-C32C-AF00-ED26BFB6F053}"/>
              </a:ext>
            </a:extLst>
          </p:cNvPr>
          <p:cNvSpPr/>
          <p:nvPr/>
        </p:nvSpPr>
        <p:spPr>
          <a:xfrm>
            <a:off x="9206864" y="3782188"/>
            <a:ext cx="2660130" cy="95325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Priority Inheritance</a:t>
            </a:r>
          </a:p>
          <a:p>
            <a:pPr algn="ctr"/>
            <a:r>
              <a:rPr lang="en-IN" dirty="0"/>
              <a:t>(when priority inversion occurs)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CEBA94-782B-0763-CEAB-C1A12E3A7BE2}"/>
              </a:ext>
            </a:extLst>
          </p:cNvPr>
          <p:cNvSpPr txBox="1"/>
          <p:nvPr/>
        </p:nvSpPr>
        <p:spPr>
          <a:xfrm>
            <a:off x="2496312" y="1386315"/>
            <a:ext cx="2058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Baseline Approach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F7DAAA-E288-B7E7-B775-E0FFA7067DCC}"/>
              </a:ext>
            </a:extLst>
          </p:cNvPr>
          <p:cNvSpPr txBox="1"/>
          <p:nvPr/>
        </p:nvSpPr>
        <p:spPr>
          <a:xfrm>
            <a:off x="7364559" y="1378961"/>
            <a:ext cx="21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Proposed Approach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7FEA1DA-47EE-AF74-24BE-CA343BDCE130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1642854" y="3002809"/>
            <a:ext cx="12581" cy="2058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4A4B9D-C51A-2D4B-D695-EF684413CDC7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10536929" y="4735447"/>
            <a:ext cx="0" cy="339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010E0031-F3AF-E5C1-B75B-A70172A40B81}"/>
              </a:ext>
            </a:extLst>
          </p:cNvPr>
          <p:cNvSpPr/>
          <p:nvPr/>
        </p:nvSpPr>
        <p:spPr>
          <a:xfrm>
            <a:off x="4120891" y="5479039"/>
            <a:ext cx="3995929" cy="42062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r>
              <a:rPr lang="en-IN" dirty="0"/>
              <a:t>SCHEDULING DECISION </a:t>
            </a:r>
            <a:endParaRPr lang="en-GB" dirty="0"/>
          </a:p>
          <a:p>
            <a:pPr algn="ctr"/>
            <a:endParaRPr lang="en-IN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3F017CC-6887-2D90-3071-E55CD404094B}"/>
              </a:ext>
            </a:extLst>
          </p:cNvPr>
          <p:cNvCxnSpPr>
            <a:cxnSpLocks/>
          </p:cNvCxnSpPr>
          <p:nvPr/>
        </p:nvCxnSpPr>
        <p:spPr>
          <a:xfrm>
            <a:off x="1648962" y="5074920"/>
            <a:ext cx="888491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3E950B3D-93A3-F178-A84D-81955BA121B4}"/>
              </a:ext>
            </a:extLst>
          </p:cNvPr>
          <p:cNvSpPr/>
          <p:nvPr/>
        </p:nvSpPr>
        <p:spPr>
          <a:xfrm>
            <a:off x="4120891" y="6199633"/>
            <a:ext cx="3995929" cy="42062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r>
              <a:rPr lang="en-IN" dirty="0"/>
              <a:t>TASK EXECUTION ON CPU</a:t>
            </a:r>
            <a:endParaRPr lang="en-GB" dirty="0"/>
          </a:p>
          <a:p>
            <a:pPr algn="ctr"/>
            <a:endParaRPr lang="en-IN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C0174BF-CB0C-CAF8-33EC-3204D5D08B6C}"/>
              </a:ext>
            </a:extLst>
          </p:cNvPr>
          <p:cNvCxnSpPr>
            <a:stCxn id="34" idx="2"/>
            <a:endCxn id="60" idx="0"/>
          </p:cNvCxnSpPr>
          <p:nvPr/>
        </p:nvCxnSpPr>
        <p:spPr>
          <a:xfrm>
            <a:off x="6118856" y="5899662"/>
            <a:ext cx="0" cy="2999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D79CFE1-8ACC-60F5-0932-AF55CFDD46E2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6118856" y="5074920"/>
            <a:ext cx="0" cy="404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89E1DE74-E6F5-FDA3-9D41-DB4E6FEE34EA}"/>
              </a:ext>
            </a:extLst>
          </p:cNvPr>
          <p:cNvSpPr txBox="1"/>
          <p:nvPr/>
        </p:nvSpPr>
        <p:spPr>
          <a:xfrm>
            <a:off x="1894824" y="3342282"/>
            <a:ext cx="26601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BLAZE-RT replaces simple FCFS execution with deadline-aware real-time scheduling and priority-inversion handling</a:t>
            </a:r>
          </a:p>
        </p:txBody>
      </p:sp>
    </p:spTree>
    <p:extLst>
      <p:ext uri="{BB962C8B-B14F-4D97-AF65-F5344CB8AC3E}">
        <p14:creationId xmlns:p14="http://schemas.microsoft.com/office/powerpoint/2010/main" val="466535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674178" y="742141"/>
            <a:ext cx="10715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Feasibility and Project Plan</a:t>
            </a:r>
          </a:p>
        </p:txBody>
      </p:sp>
      <p:sp>
        <p:nvSpPr>
          <p:cNvPr id="2" name="Feasibility Statement"/>
          <p:cNvSpPr txBox="1"/>
          <p:nvPr/>
        </p:nvSpPr>
        <p:spPr>
          <a:xfrm>
            <a:off x="674178" y="1622112"/>
            <a:ext cx="10715625" cy="11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Feasibility: </a:t>
            </a:r>
            <a:r>
              <a:rPr lang="en-US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core software stack (Python, pyserial, pygame) and RTOS scheduling concepts (RMS, EDF, priority inheritance) are well-established and implementable within the semester timeline.</a:t>
            </a:r>
          </a:p>
          <a:p>
            <a:pPr marL="342900" indent="-342900" algn="l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Low-cost hardware</a:t>
            </a:r>
            <a:r>
              <a:rPr lang="en-US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Arduino with flame and DHT11 sensors — keeps the physical layer inexpensive, easy to source, and easy to test.</a:t>
            </a:r>
          </a:p>
          <a:p>
            <a:pPr marL="342900" indent="-342900" algn="l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sensor-to-scheduler-to-dashboard pipeline</a:t>
            </a:r>
            <a:r>
              <a:rPr lang="en-US" b="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(see System Architecture) is already scoped into clear, independently buildable modules.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236223"/>
            <a:ext cx="1942620" cy="622550"/>
          </a:xfrm>
          <a:prstGeom prst="rect">
            <a:avLst/>
          </a:prstGeom>
        </p:spPr>
      </p:pic>
      <p:sp>
        <p:nvSpPr>
          <p:cNvPr id="960" name="Timeline Label"/>
          <p:cNvSpPr txBox="1"/>
          <p:nvPr/>
        </p:nvSpPr>
        <p:spPr>
          <a:xfrm>
            <a:off x="620278" y="4085889"/>
            <a:ext cx="4236149" cy="38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 — 13-Week Plan</a:t>
            </a:r>
          </a:p>
        </p:txBody>
      </p:sp>
      <p:sp>
        <p:nvSpPr>
          <p:cNvPr id="970" name="Phase 1"/>
          <p:cNvSpPr/>
          <p:nvPr/>
        </p:nvSpPr>
        <p:spPr>
          <a:xfrm>
            <a:off x="674179" y="4657592"/>
            <a:ext cx="1685937" cy="1500000"/>
          </a:xfrm>
          <a:prstGeom prst="roundRect">
            <a:avLst>
              <a:gd name="adj" fmla="val 8000"/>
            </a:avLst>
          </a:prstGeom>
          <a:solidFill>
            <a:srgbClr val="1E4D7B"/>
          </a:solidFill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Wk 1-2</a:t>
            </a:r>
          </a:p>
          <a:p>
            <a:pPr algn="ctr"/>
            <a:r>
              <a:rPr lang="en-US" sz="11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&amp; Requirement Analysis</a:t>
            </a:r>
          </a:p>
        </p:txBody>
      </p:sp>
      <p:sp>
        <p:nvSpPr>
          <p:cNvPr id="971" name="Phase 2"/>
          <p:cNvSpPr/>
          <p:nvPr/>
        </p:nvSpPr>
        <p:spPr>
          <a:xfrm>
            <a:off x="2572119" y="4657592"/>
            <a:ext cx="1685937" cy="1500000"/>
          </a:xfrm>
          <a:prstGeom prst="roundRect">
            <a:avLst>
              <a:gd name="adj" fmla="val 8000"/>
            </a:avLst>
          </a:prstGeom>
          <a:solidFill>
            <a:srgbClr val="1E4D7B"/>
          </a:solidFill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Wk 3-4</a:t>
            </a:r>
          </a:p>
          <a:p>
            <a:pPr algn="ctr"/>
            <a:r>
              <a:rPr lang="en-US" sz="11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Setup: Arduino + Flame/DHT11 Sensors</a:t>
            </a:r>
          </a:p>
        </p:txBody>
      </p:sp>
      <p:sp>
        <p:nvSpPr>
          <p:cNvPr id="972" name="Phase 3"/>
          <p:cNvSpPr/>
          <p:nvPr/>
        </p:nvSpPr>
        <p:spPr>
          <a:xfrm>
            <a:off x="4424058" y="4657592"/>
            <a:ext cx="1685937" cy="1500000"/>
          </a:xfrm>
          <a:prstGeom prst="roundRect">
            <a:avLst>
              <a:gd name="adj" fmla="val 8000"/>
            </a:avLst>
          </a:prstGeom>
          <a:solidFill>
            <a:srgbClr val="1E4D7B"/>
          </a:solidFill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Wk 5-6</a:t>
            </a:r>
          </a:p>
          <a:p>
            <a:pPr algn="ctr"/>
            <a:r>
              <a:rPr lang="en-US" sz="11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Fire-Spread Grid Simulation &amp; Serial Data Pipeline</a:t>
            </a:r>
          </a:p>
        </p:txBody>
      </p:sp>
      <p:sp>
        <p:nvSpPr>
          <p:cNvPr id="973" name="Phase 4"/>
          <p:cNvSpPr/>
          <p:nvPr/>
        </p:nvSpPr>
        <p:spPr>
          <a:xfrm>
            <a:off x="6275998" y="4657592"/>
            <a:ext cx="1685937" cy="1500000"/>
          </a:xfrm>
          <a:prstGeom prst="roundRect">
            <a:avLst>
              <a:gd name="adj" fmla="val 8000"/>
            </a:avLst>
          </a:prstGeom>
          <a:solidFill>
            <a:srgbClr val="1E4D7B"/>
          </a:solidFill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Wk 7-9</a:t>
            </a:r>
          </a:p>
          <a:p>
            <a:pPr algn="ctr"/>
            <a:r>
              <a:rPr lang="en-US" sz="11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RTOS Core: Task Manager, RMS/EDF Scheduler, Priority Inheritance</a:t>
            </a:r>
          </a:p>
        </p:txBody>
      </p:sp>
      <p:sp>
        <p:nvSpPr>
          <p:cNvPr id="974" name="Phase 5"/>
          <p:cNvSpPr/>
          <p:nvPr/>
        </p:nvSpPr>
        <p:spPr>
          <a:xfrm>
            <a:off x="8127938" y="4660888"/>
            <a:ext cx="1685937" cy="1500000"/>
          </a:xfrm>
          <a:prstGeom prst="roundRect">
            <a:avLst>
              <a:gd name="adj" fmla="val 8000"/>
            </a:avLst>
          </a:prstGeom>
          <a:solidFill>
            <a:srgbClr val="1E4D7B"/>
          </a:solidFill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Wk 10-11</a:t>
            </a:r>
          </a:p>
          <a:p>
            <a:pPr algn="ctr"/>
            <a:r>
              <a:rPr lang="en-US" sz="11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Dispatcher &amp; Live Visual Dashboard</a:t>
            </a:r>
          </a:p>
        </p:txBody>
      </p:sp>
      <p:sp>
        <p:nvSpPr>
          <p:cNvPr id="975" name="Phase 6"/>
          <p:cNvSpPr/>
          <p:nvPr/>
        </p:nvSpPr>
        <p:spPr>
          <a:xfrm>
            <a:off x="10025878" y="4657592"/>
            <a:ext cx="1685937" cy="1500000"/>
          </a:xfrm>
          <a:prstGeom prst="roundRect">
            <a:avLst>
              <a:gd name="adj" fmla="val 8000"/>
            </a:avLst>
          </a:prstGeom>
          <a:solidFill>
            <a:srgbClr val="1E4D7B"/>
          </a:solidFill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Wk 12-13</a:t>
            </a:r>
          </a:p>
          <a:p>
            <a:pPr algn="ctr"/>
            <a:r>
              <a:rPr lang="en-US" sz="11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Testing, Evaluation &amp; Final Documentation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1026</Words>
  <Application>Microsoft Office PowerPoint</Application>
  <PresentationFormat>Widescreen</PresentationFormat>
  <Paragraphs>126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Times New Roman</vt:lpstr>
      <vt:lpstr>Trade Gothic Next Heavy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Annepu Venkata Naga Satya Anupama .</cp:lastModifiedBy>
  <cp:revision>37</cp:revision>
  <dcterms:created xsi:type="dcterms:W3CDTF">2026-08-08T06:33:56Z</dcterms:created>
  <dcterms:modified xsi:type="dcterms:W3CDTF">2026-08-13T06:30:54Z</dcterms:modified>
</cp:coreProperties>
</file>